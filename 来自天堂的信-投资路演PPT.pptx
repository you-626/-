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保守(万元)</c:v>
                </c:pt>
              </c:strCache>
            </c:strRef>
          </c:tx>
          <c:spPr>
            <a:solidFill>
              <a:srgbClr val="E8B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1F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第 1 年</c:v>
                  </c:pt>
                  <c:pt idx="1">
                    <c:v>第 2-3 年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乐观(万元)</c:v>
                </c:pt>
              </c:strCache>
            </c:strRef>
          </c:tx>
          <c:spPr>
            <a:solidFill>
              <a:srgbClr val="C157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1F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第 1 年</c:v>
                  </c:pt>
                  <c:pt idx="1">
                    <c:v>第 2-3 年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60</c:v>
                </c:pt>
                <c:pt idx="1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1F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0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A7B7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资金用途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1573F"/>
              </a:solidFill>
              <a:effectLst/>
            </c:spPr>
          </c:dPt>
          <c:dPt>
            <c:idx val="1"/>
            <c:bubble3D val="0"/>
            <c:spPr>
              <a:solidFill>
                <a:srgbClr val="D9785C"/>
              </a:solidFill>
              <a:effectLst/>
            </c:spPr>
          </c:dPt>
          <c:dPt>
            <c:idx val="2"/>
            <c:bubble3D val="0"/>
            <c:spPr>
              <a:solidFill>
                <a:srgbClr val="E8B6A6"/>
              </a:solidFill>
              <a:effectLst/>
            </c:spPr>
          </c:dPt>
          <c:dPt>
            <c:idx val="3"/>
            <c:bubble3D val="0"/>
            <c:spPr>
              <a:solidFill>
                <a:srgbClr val="F0D5C8"/>
              </a:solidFill>
              <a:effectLst/>
            </c:spPr>
          </c:dPt>
          <c:dPt>
            <c:idx val="4"/>
            <c:bubble3D val="0"/>
            <c:spPr>
              <a:solidFill>
                <a:srgbClr val="B5483D"/>
              </a:solidFill>
              <a:effectLst/>
            </c:spPr>
          </c:dPt>
          <c:dPt>
            <c:idx val="5"/>
            <c:bubble3D val="0"/>
            <c:spPr>
              <a:solidFill>
                <a:srgbClr val="8C4231"/>
              </a:solidFill>
              <a:effectLst/>
            </c:spPr>
          </c:dPt>
          <c:dPt>
            <c:idx val="6"/>
            <c:bubble3D val="0"/>
            <c:spPr>
              <a:solidFill>
                <a:srgbClr val="6E352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产品开发</c:v>
                </c:pt>
                <c:pt idx="1">
                  <c:v>内容与推广</c:v>
                </c:pt>
                <c:pt idx="2">
                  <c:v>运营周转 / 应急</c:v>
                </c:pt>
                <c:pt idx="3">
                  <c:v>云服务与基础设施</c:v>
                </c:pt>
                <c:pt idx="4">
                  <c:v>核心成员阶段性投入</c:v>
                </c:pt>
                <c:pt idx="5">
                  <c:v>内容安全与审核建设</c:v>
                </c:pt>
                <c:pt idx="6">
                  <c:v>法务与合规咨询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10</c:v>
                </c:pt>
                <c:pt idx="1">
                  <c:v>9</c:v>
                </c:pt>
                <c:pt idx="2">
                  <c:v>3</c:v>
                </c:pt>
                <c:pt idx="3">
                  <c:v>2.5</c:v>
                </c:pt>
                <c:pt idx="4">
                  <c:v>2</c:v>
                </c:pt>
                <c:pt idx="5">
                  <c:v>2</c:v>
                </c:pt>
                <c:pt idx="6">
                  <c:v>1.5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50">
              <a:solidFill>
                <a:srgbClr val="8A7B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640080"/>
            <a:ext cx="914400" cy="91440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30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7830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E8B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项目投资计划书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0" y="2194560"/>
            <a:ext cx="1216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来自天堂的信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0" y="32004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BB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 · 情感记录与“时间胶囊”产品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69080" y="397764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3A2A22"/>
          </a:solidFill>
          <a:ln w="12700">
            <a:solidFill>
              <a:srgbClr val="C157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69080" y="4096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B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融资金额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69080" y="4343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人民币 30 万元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BB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李小龙          2026 年 6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市场机会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被需要,但少有人做精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640080" cy="64008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23609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017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真实存在的情感缺口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56616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无论是写给未来自己的计划,写给逝去亲友的思念,还是写给尚未出生孩子的期待,人们始终需要一个安全、私密、有仪式感的空间来安放这些情绪与心意。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4E8D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194560"/>
            <a:ext cx="640080" cy="64008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23609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0" y="3017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市场已验证,体验仍有空白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356616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同类“时间胶囊”赛道头部项目完成两轮天使融资、用户破百万,证明品类具备真实粘性。但市场上仍缺少视觉体验、情感设计与定价模式都足够精细的产品——这正是我们的切入点。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为什么是现在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越会说话,真心话反而越稀缺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7830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可以替你写一封语气得体的信,但写不出你想说给谁的那份心意。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342900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8820" y="3246120"/>
            <a:ext cx="731520" cy="73152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015" y="34363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14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内容越泛滥,真实越稀缺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6817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当被AI生成变得随处可见,这是我亲手写的反而成了稀缺资源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2926080"/>
            <a:ext cx="3429000" cy="2606040"/>
          </a:xfrm>
          <a:prstGeom prst="roundRect">
            <a:avLst>
              <a:gd name="adj" fmla="val 3509"/>
            </a:avLst>
          </a:prstGeom>
          <a:solidFill>
            <a:srgbClr val="C1573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92140" y="3246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35" y="343631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4114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我们刻意不做 AI 生成回信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17720" y="46817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BEA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不模拟逝者声音、不让AI代笔——这是产品边界,不是技术做不到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2926080"/>
            <a:ext cx="342900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395460" y="3246120"/>
            <a:ext cx="731520" cy="73152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5655" y="343631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4114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用户要的是被真实地记得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21040" y="468172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不是更聪明的对话伙伴,而是确认这份心意,真的被认真对待了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产品介绍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把心意,安心交给时间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用文字、语音或视频写一封信,设定未来某个时间点——几个月后、几年后,甚至人生中的特定节点——才能被打开。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237744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94560" y="2651760"/>
            <a:ext cx="731520" cy="73152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4755" y="28419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无字数上限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26280" y="237744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5000" y="2651760"/>
            <a:ext cx="731520" cy="73152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195" y="28419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52628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短时免费 / 长时解锁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237744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235440" y="2651760"/>
            <a:ext cx="731520" cy="73152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635" y="284195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4672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04672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短时免费 / 长时解锁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461772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4E8DC"/>
          </a:solidFill>
          <a:ln/>
        </p:spPr>
      </p:sp>
      <p:sp>
        <p:nvSpPr>
          <p:cNvPr id="21" name="Text 16"/>
          <p:cNvSpPr/>
          <p:nvPr/>
        </p:nvSpPr>
        <p:spPr>
          <a:xfrm>
            <a:off x="96012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60120" y="51206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全套治愈系视觉设计稿(写信页、定价选择页等核心交互原型)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完整产品需求文档(PRD):功能、数据模型、权限模型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技术方案确定:原生微信小程序 + Python FastAPI + 微信云托管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六个关键设计,撑起体验与信任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20967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476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双重定价体系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保存时长与媒体录制时长相互独立,各自计费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965960"/>
            <a:ext cx="502920" cy="50292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759" y="20967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9476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提前查看授权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26060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创建者可自主决定是否解除时间限制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55280" y="169164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1965960"/>
            <a:ext cx="502920" cy="50292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359" y="20967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9476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公开广场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0" y="26060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送达后满10天才可公开,避免冲动分享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79476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069080"/>
            <a:ext cx="502920" cy="50292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159" y="419983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0507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管理端审计日志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47091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权限分级 + 全程留痕,防止滥用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379476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069080"/>
            <a:ext cx="502920" cy="50292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759" y="419983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40507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到期提醒与开启仪式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2000" y="47091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订阅消息提醒,复刻治愈系开启动效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955280" y="379476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29600" y="4069080"/>
            <a:ext cx="502920" cy="50292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0359" y="419983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5400" y="40507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信箱云端同步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29600" y="47091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草稿、待开启、已开启状态全同步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两条独立计费线,逻辑清晰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保存时长定价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530352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保存时长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57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天内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年内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¥2.9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1–3 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¥6.9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3–10 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¥14.9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年以上 / 人生节点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¥29.9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6002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媒体录制时长(独立解锁)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11680"/>
          <a:ext cx="525780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录制档位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57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短时(≤3分钟)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长时(≤60分钟)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¥9.9 / 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263640" y="352044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4E8DC"/>
          </a:solidFill>
          <a:ln/>
        </p:spPr>
      </p:sp>
      <p:sp>
        <p:nvSpPr>
          <p:cNvPr id="9" name="Text 5"/>
          <p:cNvSpPr/>
          <p:nvPr/>
        </p:nvSpPr>
        <p:spPr>
          <a:xfrm>
            <a:off x="6537960" y="3657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未来拓展方向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537960" y="39776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实体明信片邮寄增值服务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端合作定制(医院 / 学校 / 企业)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公开广场轻量增值(精选合集等)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重要边界:所有付费均为一次性消费,不做资金托管、用户间转账或虚拟货币提现 / 转赠,不涉及需金融牌照的信托 / 保险类业务。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四类核心场景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514600"/>
            <a:ext cx="731520" cy="73152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535" y="27047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自我对话型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写给“未来的自己”,记录计划与心情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4E8D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11980" y="2514600"/>
            <a:ext cx="731520" cy="73152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175" y="270479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情感纪念型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703320" y="39776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给已故或想念的亲友写信,作为情感疏导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46620" y="2514600"/>
            <a:ext cx="731520" cy="73152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15" y="270479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家庭场景型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537960" y="39776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给“还没出生的宝宝”或孩子的成长节点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14400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4E8D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81260" y="2514600"/>
            <a:ext cx="731520" cy="73152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1455" y="270479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仪式感型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372600" y="39776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毕业季、纪念日等特殊节点的未来留言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竞争分析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差异化优势在哪里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39319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市场同类产品普遍特点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我们的设计取向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573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视觉与情感体验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7B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多以功能实现为先,情感细节投入有限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157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治愈系定制视觉,强调仪式感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情感真实性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7B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部分产品引入 AI 生成回信,真实性存疑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157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不引入 AI 生成内容,坚持完全由本人创作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定价模式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7B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多为单一收费维度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157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保存时长 / 媒体时长两条独立计费线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内容安全与权限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7B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隐私与公开机制设计较粗放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157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提前查看授权 + 公开冷静期 + 审计日志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1F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商业化路径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7B7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部分仍在探索中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1573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端分级定价 + B 端定制 + 增值服务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7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说明:以上对比为基于公开信息的概括性描述,不针对任何具体企业或产品做指名评价。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技术与合规体系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把信任,写进架构里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548640" cy="54864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66" y="21543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26517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原生微信小程序 + Python FastAPI + 微信云托管,部署链路简化、成本可控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1663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011680"/>
            <a:ext cx="548640" cy="54864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46" y="21543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内容安全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0800" y="26517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 / 语音 / 视频 / 评论均接入微信内容安全检测接口,合规硬性要求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1663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160520"/>
            <a:ext cx="548640" cy="54864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" y="430316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114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权限与审计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60120" y="48006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超管 / 创建者 / 接收者三级权限,管理端查看行为全程记录审计日志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80760" y="3840480"/>
            <a:ext cx="51663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160520"/>
            <a:ext cx="548640" cy="54864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446" y="430316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114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支付与资金安全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00800" y="48006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微信支付标准接入,不做资金托管或用户间转账,从源头规避合规风险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财务预测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区间估算,非业绩承诺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1264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600200"/>
            <a:ext cx="4480560" cy="3749040"/>
          </a:xfrm>
          <a:prstGeom prst="roundRect">
            <a:avLst>
              <a:gd name="adj" fmla="val 2439"/>
            </a:avLst>
          </a:prstGeom>
          <a:solidFill>
            <a:srgbClr val="F4E8D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关键假设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0" y="214884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付费转化率:2%–5%(参考情感 / 工具类小程序常见区间)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人均年付费(ARPPU):¥20–40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增长驱动:小红书 / 抖音内容传播 + 产品自带分享裂变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成本主项:云服务、内容审核、市场推广、人力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注:以上为区间估算,实际表现受推广投入、内容传播效果与市场环境影响较大,不构成业绩承诺。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融资需求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万元资金用途明细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37960" y="1600200"/>
            <a:ext cx="4983480" cy="4114800"/>
          </a:xfrm>
          <a:prstGeom prst="roundRect">
            <a:avLst>
              <a:gd name="adj" fmla="val 2222"/>
            </a:avLst>
          </a:prstGeom>
          <a:solidFill>
            <a:srgbClr val="F4E8DC"/>
          </a:solidFill>
          <a:ln/>
        </p:spPr>
      </p:sp>
      <p:sp>
        <p:nvSpPr>
          <p:cNvPr id="6" name="Text 3"/>
          <p:cNvSpPr/>
          <p:nvPr/>
        </p:nvSpPr>
        <p:spPr>
          <a:xfrm>
            <a:off x="6812280" y="1783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 ¥300,000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12280" y="23317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产品开发(前后端、测试、上线审核)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058400" y="2331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¥100,000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12280" y="27249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内容与推广(内容制作 + 投流)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05840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¥90,000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12280" y="31181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运营周转 / 应急储备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058400" y="31181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¥30,000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12280" y="35112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云服务与基础设施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0058400" y="35112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¥25,000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812280" y="39044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核心成员阶段性投入补贴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0058400" y="39044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¥20,000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812280" y="4297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内容安全与审核机制建设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0058400" y="4297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¥20,000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812280" y="46908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法务与合规咨询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0058400" y="4690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¥15,000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发展规划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三个阶段,稳步上线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C1573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MVP(V1)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2788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BEA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微信登录、写信、草稿云端同步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BEA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保存时长定价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BEA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提前查看 / 公开到大厅开关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BEA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管理端基础查看 + 审计日志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178308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2057400"/>
            <a:ext cx="457200" cy="457200"/>
          </a:xfrm>
          <a:prstGeom prst="ellipse">
            <a:avLst/>
          </a:prstGeom>
          <a:solidFill>
            <a:srgbClr val="C1573F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30368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81728" y="2743200"/>
            <a:ext cx="2788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 / 视频写信(分片上传)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公开广场:评论、内容安全检测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举报 / 拉黑机制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3296" y="178308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2057400"/>
            <a:ext cx="457200" cy="457200"/>
          </a:xfrm>
          <a:prstGeom prst="ellipse">
            <a:avLst/>
          </a:prstGeom>
          <a:solidFill>
            <a:srgbClr val="C1573F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51976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V2(后续评估)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03336" y="2743200"/>
            <a:ext cx="2788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实体明信片邮寄增值服务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端合作定制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诚实地看待不确定性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9384"/>
            <a:ext cx="457200" cy="45720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4825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情感类产品使用频率天然较低,用户复购与长期留存存在不确定性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6974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2843784"/>
            <a:ext cx="457200" cy="45720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962656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6974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公开广场的内容审核投入可能高于预期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6118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68680" y="3758184"/>
            <a:ext cx="457200" cy="45720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877056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6118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获客成本与转化率受市场环境影响较大,实际收入可能低于预测区间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45262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672584"/>
            <a:ext cx="457200" cy="45720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791456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5262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长音视频功能对存储与带宽成本的影响需持续监控,定价可能动态调整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68680" y="5586984"/>
            <a:ext cx="457200" cy="45720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705856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5440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小程序平台政策存在调整可能,需持续关注微信生态规则变化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团队介绍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项目主导者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468880"/>
            <a:ext cx="1554480" cy="1554480"/>
          </a:xfrm>
          <a:prstGeom prst="ellipse">
            <a:avLst/>
          </a:prstGeom>
          <a:solidFill>
            <a:srgbClr val="C1573F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4688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0" y="2423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F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李小龙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57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项目创始人 · 产品 &amp; 技术负责人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00400" y="342900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宁夏大学毕业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曾任某大厂全栈开发工程师、项目经理,具备完整的产品设计、技术架构与项目管理经验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本项目的产品设计、需求文档与技术架构均由其主导完成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1005840"/>
            <a:ext cx="914400" cy="91440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304" y="12435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94560"/>
            <a:ext cx="1216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感谢您的关注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29718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BB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期待与您一起,把“来自天堂的信”做成真正温暖人心的产品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703320" y="3840480"/>
            <a:ext cx="4754880" cy="1463040"/>
          </a:xfrm>
          <a:prstGeom prst="roundRect">
            <a:avLst>
              <a:gd name="adj" fmla="val 7500"/>
            </a:avLst>
          </a:prstGeom>
          <a:solidFill>
            <a:srgbClr val="3A2A22"/>
          </a:solidFill>
          <a:ln w="12700">
            <a:solidFill>
              <a:srgbClr val="C1573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77640" y="4069080"/>
            <a:ext cx="502920" cy="502920"/>
          </a:xfrm>
          <a:prstGeom prst="ellipse">
            <a:avLst/>
          </a:prstGeom>
          <a:solidFill>
            <a:srgbClr val="C1573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399" y="419983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4041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李小龙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61772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3440" y="4572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B6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17795537809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0" y="626364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《来自天堂的信》项目投资计划书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《来自天堂的信》项目投资计划书</dc:title>
  <dc:subject>PptxGenJS Presentation</dc:subject>
  <dc:creator>李小龙</dc:creator>
  <cp:lastModifiedBy>李小龙</cp:lastModifiedBy>
  <cp:revision>1</cp:revision>
  <dcterms:created xsi:type="dcterms:W3CDTF">2026-06-24T08:16:28Z</dcterms:created>
  <dcterms:modified xsi:type="dcterms:W3CDTF">2026-06-24T08:16:28Z</dcterms:modified>
</cp:coreProperties>
</file>